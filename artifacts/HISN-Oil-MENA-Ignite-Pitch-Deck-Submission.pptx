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EE5C1-7D68-4B3F-A738-DF100346A7D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68BEB-D67A-4C81-B959-4456E41D6D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4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valid login can still originate from a compromised device or SIM. HISN-Oil adds network evidence before a high-consequence command reaches the pump. Public demo: https://hisn-ot-prototype.vercel.app/#judge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21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risk is strongest when the requested value sits inside the engineering limit. A setpoint rule alone cannot detect compromised command context. The facility image is an illustrative digital twin, not a physical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16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58% request passes the hard maximum. Nokia network evidence reveals compromised SIM, device, and location context. Deterministic policy issues BLOCK_AND_CONTAIN, and the accepted plant state remains 46%.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069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model selects tools and recommends a response. It cannot override engineering limits or actuate the pump. The deterministic policy remains the final authority. Nokia calls use the sandbox environment in this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1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public run used live hosted reasoning and four successful Nokia Sandbox responses. Every call, recommendation, decision, and plant outcome shares one correlation ID. Verification record: docs/verification.md in the public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730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hosted model has no physical authority. When Groq is unavailable or rate-limited, HISN-Oil records AGENT_UNAVAILABLE and keeps the command held. It does not substitute a local recommendation during a connected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10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safe connected command reached 52% after successful Nokia Sandbox location and reachability calls. The read-only run used reachability and made no plant change. Both retained live reasoning provenance and sealed incident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58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first pilot begins in observation mode. The team measures decision latency, false blocks, unavailable evidence, and audit completeness before any enforcement integration. Pricing remains a hypothesis until customer discovery validates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51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prototype proves the control pattern. Production use still requires operator onboarding, approved network attachments, durable audit storage, certified OT interfaces, and formal safety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09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immediate request is access to a realistic command workflow, an operator identity integration path, and feedback from OT security and operations teams. The demo uses Nokia Sandbox and an illustrative digital twin; it does not claim live subscriber consent or physical PLC actuation.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168BEB-D67A-4C81-B959-4456E41D6D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70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E1C6-3FBC-D1FB-2725-935EEF045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A15EE-AE98-6B9D-AD01-6D979794A7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70A8D-CE26-72A0-B452-DD785D527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7B69F-A1B3-D23B-AF75-90F347D3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2FAF82-E0A0-A911-103A-8CA35EF5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48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BDEF-1B34-0201-1CE8-A3226F089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5A9B6-00E1-5880-AC7B-EBD935CE9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7CCD0-CC4B-E5F1-49FA-B48EAEB6E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D7BD0-7A19-82A0-57CE-C9D41170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78408-ED2F-D9F8-1DA1-6250A4CE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2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5968-AE68-4C1B-039C-F04D66A17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B1AD8-499A-64F8-571D-C1CDC074C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25301-F4BE-3436-7DDB-7C87956C8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3212E-052A-F1AF-7D4F-2DCEFCF59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0621E-2DCE-9314-9A8A-4CF3F7F3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9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0BB7-E176-1F8C-2861-1F9C0A57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124EB-0AE8-4CB1-2534-CF002C0EAC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CE4D2-EE6F-425A-A71A-3CBF48132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56D8F-ACBA-BC93-C09A-249E44EFC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4F47C-4740-DF50-1586-E78D84FF5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0977B-B51B-88E1-597D-548EBE95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81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03465-3245-F052-3F21-8B578F8BC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9E8446-4B4C-5B9D-55BC-6D51C966A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B4FC6C-F245-71A9-5A88-60A9055E6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7107A-AE34-9A4E-232D-9C270358A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66986F-B80E-E682-95EF-A27378138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8FAF9-62A4-8177-2BD4-9C07718B9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AB309-3469-445F-A595-B2746F508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D73D7D-F936-FEB0-FA1A-A8E55779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3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78AE-11A6-C5F5-673D-A7B6EA61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43EB02-6059-6590-1407-4A832EFB2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F4473-4EA8-66FF-115E-963BEF48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7EF23-776C-5F64-CE1D-D56DB62C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4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5263B-A00A-6656-0A3A-8241F1334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6E656-46FC-3977-910F-3E3CA1E3F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BA38E-7B06-A501-44F9-07E82119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11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2854-A6DE-DEBE-9EB7-AE84D8D4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19591-793D-F87A-DBFF-29F316ADA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14A90-4A64-13C6-EA89-A3F0C01F0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EA9871-8C82-EF8E-F99F-E7AD62005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D8168-C09E-B5DD-8CEA-E598AADC1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4B1B4-E633-315C-4B8B-8EDBEA90F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17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9EC6-37E6-ABDE-F26F-139028E43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F6450F-F258-D2F8-0524-D09C79E55E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242BB-44E9-BF07-63EE-626C5011E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75B4D-2694-A162-15FF-38943D4F3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1712BE-CB23-05FC-7953-EF9EF1894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ED4D5-7ECF-8ACE-0886-54097D793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9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54F04-9A86-05C8-AE74-4E42EE40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C8CF47-994C-E92F-F0BE-2FC679BCEE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59D85-1D2A-23D4-5568-6349BCC1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70F78-05EB-45B0-67A8-C3ED489B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43FD5-5538-F384-F68B-408B53CC8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2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EC5FE-D5CE-7C33-16B6-7A0F2FBE9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DD9CB-22EE-EB58-5B29-C84D9A064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E6259-8939-8A3D-E8E2-FA3BFE76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31BAF-F758-2AD4-243B-8F823229E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E08F0-E3DF-7745-2892-F38CBA83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5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F4B32F-8D6F-70B5-9DBA-038F525AF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8A114-C312-63BE-5B4F-ED160DC0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739E8-4B00-231B-0093-5DE60262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A813B9-5CBB-4891-A1C4-E34E8FA7F5F8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7B284-77DC-B4FA-43DB-190D14A3C7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7AD7F-E600-8F10-06BB-5265E8622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686864-4DB9-4DA4-87A6-495C82FB1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13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hisn-ot-prototype.vercel.app/#judg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github.com/Mutasem-mk4/hisn-ot-prototyp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7CC34D-1E9F-A683-D811-7DD5F09F29A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38A4F-7340-3646-0CFD-76BADDA35E99}"/>
              </a:ext>
            </a:extLst>
          </p:cNvPr>
          <p:cNvSpPr txBox="1"/>
          <p:nvPr/>
        </p:nvSpPr>
        <p:spPr>
          <a:xfrm>
            <a:off x="914400" y="1219200"/>
            <a:ext cx="5461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400" b="1">
                <a:solidFill>
                  <a:srgbClr val="0D222D"/>
                </a:solidFill>
                <a:latin typeface="Aptos" panose="020B0004020202020204" pitchFamily="34" charset="0"/>
              </a:rPr>
              <a:t>HISN-Oil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AE39CC-49B9-4CF2-3386-5D70B5BC0A32}"/>
              </a:ext>
            </a:extLst>
          </p:cNvPr>
          <p:cNvSpPr txBox="1"/>
          <p:nvPr/>
        </p:nvSpPr>
        <p:spPr>
          <a:xfrm>
            <a:off x="914400" y="2235200"/>
            <a:ext cx="5461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12584F"/>
                </a:solidFill>
                <a:latin typeface="Aptos" panose="020B0004020202020204" pitchFamily="34" charset="0"/>
              </a:rPr>
              <a:t>Network proof before industrial action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BE216-D413-6B7E-E382-02082D9F57C7}"/>
              </a:ext>
            </a:extLst>
          </p:cNvPr>
          <p:cNvSpPr txBox="1"/>
          <p:nvPr/>
        </p:nvSpPr>
        <p:spPr>
          <a:xfrm>
            <a:off x="914400" y="33274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4A5B63"/>
                </a:solidFill>
                <a:latin typeface="Aptos" panose="020B0004020202020204" pitchFamily="34" charset="0"/>
              </a:rPr>
              <a:t>Agentic safety for remote oil pumping stations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972D2-3436-C76A-7F92-B834789BC9B4}"/>
              </a:ext>
            </a:extLst>
          </p:cNvPr>
          <p:cNvSpPr txBox="1"/>
          <p:nvPr/>
        </p:nvSpPr>
        <p:spPr>
          <a:xfrm>
            <a:off x="914400" y="4140200"/>
            <a:ext cx="520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 b="1">
                <a:solidFill>
                  <a:srgbClr val="A05D30"/>
                </a:solidFill>
                <a:latin typeface="Aptos" panose="020B0004020202020204" pitchFamily="34" charset="0"/>
              </a:rPr>
              <a:t>Industrial &amp; Enterprise AI Automation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5A8871-3DD5-DDA2-4A97-1468003CD0D1}"/>
              </a:ext>
            </a:extLst>
          </p:cNvPr>
          <p:cNvSpPr/>
          <p:nvPr/>
        </p:nvSpPr>
        <p:spPr>
          <a:xfrm>
            <a:off x="6604000" y="939800"/>
            <a:ext cx="4775200" cy="452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9CD3B5-66A6-C89E-EF79-A67532CC3B7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7200" y="1265158"/>
            <a:ext cx="4368800" cy="38704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DBF1F0-D231-A458-59CC-6E3DE98AB411}"/>
              </a:ext>
            </a:extLst>
          </p:cNvPr>
          <p:cNvSpPr txBox="1"/>
          <p:nvPr/>
        </p:nvSpPr>
        <p:spPr>
          <a:xfrm>
            <a:off x="914400" y="5892800"/>
            <a:ext cx="635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1000">
                <a:solidFill>
                  <a:srgbClr val="4A5B63"/>
                </a:solidFill>
                <a:latin typeface="Aptos" panose="020B0004020202020204" pitchFamily="34" charset="0"/>
              </a:rPr>
              <a:t>GSMA MENA Ignite Hackathon 2026</a:t>
            </a:r>
            <a:endParaRPr lang="en-US" sz="10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1132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8DC530-E58A-A27B-99D7-46EB99F61A46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0FE6A3-237C-6DDA-AD51-7DF23A6FFA15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The command trust gap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ACA0B8-2068-BE69-E09D-0A5C03C9A9F9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2155111-3964-2DB4-354D-80541A89E91A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E1DCCEF-981B-CC6E-BFD8-1DCB875EBA4B}"/>
              </a:ext>
            </a:extLst>
          </p:cNvPr>
          <p:cNvSpPr txBox="1"/>
          <p:nvPr/>
        </p:nvSpPr>
        <p:spPr>
          <a:xfrm>
            <a:off x="812800" y="1854200"/>
            <a:ext cx="49530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0D222D"/>
                </a:solidFill>
                <a:latin typeface="Aptos" panose="020B0004020202020204" pitchFamily="34" charset="0"/>
              </a:rPr>
              <a:t>A physically plausible command can still come from compromised context.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BE0096-624D-02CB-79BD-EDE029F7EAEE}"/>
              </a:ext>
            </a:extLst>
          </p:cNvPr>
          <p:cNvCxnSpPr/>
          <p:nvPr/>
        </p:nvCxnSpPr>
        <p:spPr>
          <a:xfrm>
            <a:off x="812800" y="3200400"/>
            <a:ext cx="4648200" cy="0"/>
          </a:xfrm>
          <a:prstGeom prst="line">
            <a:avLst/>
          </a:prstGeom>
          <a:ln w="381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35D8488-624F-5140-884E-97E28F969D35}"/>
              </a:ext>
            </a:extLst>
          </p:cNvPr>
          <p:cNvSpPr txBox="1"/>
          <p:nvPr/>
        </p:nvSpPr>
        <p:spPr>
          <a:xfrm>
            <a:off x="812800" y="34798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Credentials confirm account access.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8383C-4408-7F2E-2071-540ABD11B3F2}"/>
              </a:ext>
            </a:extLst>
          </p:cNvPr>
          <p:cNvSpPr txBox="1"/>
          <p:nvPr/>
        </p:nvSpPr>
        <p:spPr>
          <a:xfrm>
            <a:off x="812800" y="3937000"/>
            <a:ext cx="457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4A5B63"/>
                </a:solidFill>
                <a:latin typeface="Aptos" panose="020B0004020202020204" pitchFamily="34" charset="0"/>
              </a:rPr>
              <a:t>They do not establish the expected device, SIM, location, or current mobile-network state.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103E8B-DA0C-6F7B-21C7-3A2F0910B111}"/>
              </a:ext>
            </a:extLst>
          </p:cNvPr>
          <p:cNvSpPr/>
          <p:nvPr/>
        </p:nvSpPr>
        <p:spPr>
          <a:xfrm>
            <a:off x="6172200" y="1854200"/>
            <a:ext cx="5207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E6AEF12-46F4-1B3A-DB68-409F99F1B901}"/>
              </a:ext>
            </a:extLst>
          </p:cNvPr>
          <p:cNvSpPr/>
          <p:nvPr/>
        </p:nvSpPr>
        <p:spPr>
          <a:xfrm>
            <a:off x="6502400" y="21336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9C7CA-24B2-912F-B7FF-0DA5318F0F30}"/>
              </a:ext>
            </a:extLst>
          </p:cNvPr>
          <p:cNvSpPr txBox="1"/>
          <p:nvPr/>
        </p:nvSpPr>
        <p:spPr>
          <a:xfrm>
            <a:off x="6565900" y="22606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27DE28-C7E2-47FA-90A2-E7F91C3CD4DD}"/>
              </a:ext>
            </a:extLst>
          </p:cNvPr>
          <p:cNvSpPr txBox="1"/>
          <p:nvPr/>
        </p:nvSpPr>
        <p:spPr>
          <a:xfrm>
            <a:off x="7289800" y="21209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Valid account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4DB355-2E1A-434A-F052-F42863D67306}"/>
              </a:ext>
            </a:extLst>
          </p:cNvPr>
          <p:cNvSpPr txBox="1"/>
          <p:nvPr/>
        </p:nvSpPr>
        <p:spPr>
          <a:xfrm>
            <a:off x="7289800" y="24511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Credentials accepted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654724-9C06-921A-CC4D-0B79F1167A16}"/>
              </a:ext>
            </a:extLst>
          </p:cNvPr>
          <p:cNvSpPr/>
          <p:nvPr/>
        </p:nvSpPr>
        <p:spPr>
          <a:xfrm>
            <a:off x="6502400" y="29464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CB978-B8F9-FFDF-3EA2-3A64CE6B8EC3}"/>
              </a:ext>
            </a:extLst>
          </p:cNvPr>
          <p:cNvSpPr txBox="1"/>
          <p:nvPr/>
        </p:nvSpPr>
        <p:spPr>
          <a:xfrm>
            <a:off x="6565900" y="30734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AC62DC-9EF8-4B12-353C-F0200B309FE8}"/>
              </a:ext>
            </a:extLst>
          </p:cNvPr>
          <p:cNvSpPr txBox="1"/>
          <p:nvPr/>
        </p:nvSpPr>
        <p:spPr>
          <a:xfrm>
            <a:off x="7289800" y="29337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Compromised context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55F681-A359-DF89-A45F-1F1E9C3681EF}"/>
              </a:ext>
            </a:extLst>
          </p:cNvPr>
          <p:cNvSpPr txBox="1"/>
          <p:nvPr/>
        </p:nvSpPr>
        <p:spPr>
          <a:xfrm>
            <a:off x="7289800" y="32639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SIM, device, or location risk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75B7621-0BDD-FEB0-9930-B19A7C2191F5}"/>
              </a:ext>
            </a:extLst>
          </p:cNvPr>
          <p:cNvSpPr/>
          <p:nvPr/>
        </p:nvSpPr>
        <p:spPr>
          <a:xfrm>
            <a:off x="6502400" y="37592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8D09E5-FE7D-2949-6F84-E4D42FD146DC}"/>
              </a:ext>
            </a:extLst>
          </p:cNvPr>
          <p:cNvSpPr txBox="1"/>
          <p:nvPr/>
        </p:nvSpPr>
        <p:spPr>
          <a:xfrm>
            <a:off x="6565900" y="38862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391ADB-E63A-6B10-23DF-77CFD11D07A4}"/>
              </a:ext>
            </a:extLst>
          </p:cNvPr>
          <p:cNvSpPr txBox="1"/>
          <p:nvPr/>
        </p:nvSpPr>
        <p:spPr>
          <a:xfrm>
            <a:off x="7289800" y="37465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58% request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52330-5158-E7FA-F77F-F65AFEB2EFEB}"/>
              </a:ext>
            </a:extLst>
          </p:cNvPr>
          <p:cNvSpPr txBox="1"/>
          <p:nvPr/>
        </p:nvSpPr>
        <p:spPr>
          <a:xfrm>
            <a:off x="7289800" y="40767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Inside the 60% hard limit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F34BBB2-7726-50C3-5E11-9808E0BE1A60}"/>
              </a:ext>
            </a:extLst>
          </p:cNvPr>
          <p:cNvSpPr/>
          <p:nvPr/>
        </p:nvSpPr>
        <p:spPr>
          <a:xfrm>
            <a:off x="6502400" y="4572000"/>
            <a:ext cx="482600" cy="4826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72D916-4D36-2906-188A-A7AF4FEC3AB2}"/>
              </a:ext>
            </a:extLst>
          </p:cNvPr>
          <p:cNvSpPr txBox="1"/>
          <p:nvPr/>
        </p:nvSpPr>
        <p:spPr>
          <a:xfrm>
            <a:off x="6565900" y="4699000"/>
            <a:ext cx="3556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00" b="1">
                <a:solidFill>
                  <a:srgbClr val="FFFFFF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942F3F-626E-A7D4-8220-7B38764DD979}"/>
              </a:ext>
            </a:extLst>
          </p:cNvPr>
          <p:cNvSpPr txBox="1"/>
          <p:nvPr/>
        </p:nvSpPr>
        <p:spPr>
          <a:xfrm>
            <a:off x="7289800" y="4559300"/>
            <a:ext cx="342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Remote pump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7DBA11-FEA4-144D-2E60-D4133FF12842}"/>
              </a:ext>
            </a:extLst>
          </p:cNvPr>
          <p:cNvSpPr txBox="1"/>
          <p:nvPr/>
        </p:nvSpPr>
        <p:spPr>
          <a:xfrm>
            <a:off x="7289800" y="4889500"/>
            <a:ext cx="342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Potential physical consequence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2BF92FA-9ECD-6BF6-5904-69BC20731374}"/>
              </a:ext>
            </a:extLst>
          </p:cNvPr>
          <p:cNvCxnSpPr/>
          <p:nvPr/>
        </p:nvCxnSpPr>
        <p:spPr>
          <a:xfrm>
            <a:off x="6743700" y="2616200"/>
            <a:ext cx="0" cy="33020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808F5C4-CF78-1EE6-4303-5818D5F82FE0}"/>
              </a:ext>
            </a:extLst>
          </p:cNvPr>
          <p:cNvCxnSpPr/>
          <p:nvPr/>
        </p:nvCxnSpPr>
        <p:spPr>
          <a:xfrm>
            <a:off x="6743700" y="3429000"/>
            <a:ext cx="0" cy="33020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EED5412-12F6-4905-418E-17F289E3DBD4}"/>
              </a:ext>
            </a:extLst>
          </p:cNvPr>
          <p:cNvCxnSpPr/>
          <p:nvPr/>
        </p:nvCxnSpPr>
        <p:spPr>
          <a:xfrm>
            <a:off x="6743700" y="4241800"/>
            <a:ext cx="0" cy="33020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40CBDE-D9E5-135A-9A36-7ECA0BAD5DFF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D53A57E-19B4-6B25-1814-44905BBDA7C8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152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D6BB7C-C430-0255-4692-3DAFCB927AD0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DEMONSTRATION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BF1130-1513-A73C-5D1B-1D8E9967E0B3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Network evidence changes the decision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02E01-67E8-534D-6B1E-F1359957EB20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97BC16-F5CA-D6BD-6F01-9E1D8EC01852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0A28479-5097-ED1F-8D64-25BDCDC35287}"/>
              </a:ext>
            </a:extLst>
          </p:cNvPr>
          <p:cNvSpPr txBox="1"/>
          <p:nvPr/>
        </p:nvSpPr>
        <p:spPr>
          <a:xfrm>
            <a:off x="812800" y="1879600"/>
            <a:ext cx="165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REQUESTED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5EEBEB-1FE3-357F-3331-012DD3C63331}"/>
              </a:ext>
            </a:extLst>
          </p:cNvPr>
          <p:cNvSpPr txBox="1"/>
          <p:nvPr/>
        </p:nvSpPr>
        <p:spPr>
          <a:xfrm>
            <a:off x="812800" y="2133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D222D"/>
                </a:solidFill>
                <a:latin typeface="Aptos" panose="020B0004020202020204" pitchFamily="34" charset="0"/>
              </a:rPr>
              <a:t>58%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16B2FF-9609-685F-9628-278235747968}"/>
              </a:ext>
            </a:extLst>
          </p:cNvPr>
          <p:cNvSpPr txBox="1"/>
          <p:nvPr/>
        </p:nvSpPr>
        <p:spPr>
          <a:xfrm>
            <a:off x="2667000" y="1879600"/>
            <a:ext cx="215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HARD LIMIT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73A40-C0E8-A2DE-23F0-D28D4E41338D}"/>
              </a:ext>
            </a:extLst>
          </p:cNvPr>
          <p:cNvSpPr txBox="1"/>
          <p:nvPr/>
        </p:nvSpPr>
        <p:spPr>
          <a:xfrm>
            <a:off x="2667000" y="2133600"/>
            <a:ext cx="215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12584F"/>
                </a:solidFill>
                <a:latin typeface="Aptos" panose="020B0004020202020204" pitchFamily="34" charset="0"/>
              </a:rPr>
              <a:t>Passed  &lt;=60%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75772-FA9B-A638-3874-10BF0FF83357}"/>
              </a:ext>
            </a:extLst>
          </p:cNvPr>
          <p:cNvSpPr txBox="1"/>
          <p:nvPr/>
        </p:nvSpPr>
        <p:spPr>
          <a:xfrm>
            <a:off x="5080000" y="18796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NETWORK PROOF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D180CB-427C-EC09-C8A4-0F9C244AB659}"/>
              </a:ext>
            </a:extLst>
          </p:cNvPr>
          <p:cNvSpPr txBox="1"/>
          <p:nvPr/>
        </p:nvSpPr>
        <p:spPr>
          <a:xfrm>
            <a:off x="5080000" y="2133600"/>
            <a:ext cx="177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0D222D"/>
                </a:solidFill>
                <a:latin typeface="Aptos" panose="020B0004020202020204" pitchFamily="34" charset="0"/>
              </a:rPr>
              <a:t>4 calls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7A63A2-AF47-17A8-6A38-48C6F2F80966}"/>
              </a:ext>
            </a:extLst>
          </p:cNvPr>
          <p:cNvSpPr txBox="1"/>
          <p:nvPr/>
        </p:nvSpPr>
        <p:spPr>
          <a:xfrm>
            <a:off x="7061200" y="1879600"/>
            <a:ext cx="279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PLANT STATE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025A36-6BDC-2251-E273-1B0426C7FCF6}"/>
              </a:ext>
            </a:extLst>
          </p:cNvPr>
          <p:cNvSpPr txBox="1"/>
          <p:nvPr/>
        </p:nvSpPr>
        <p:spPr>
          <a:xfrm>
            <a:off x="7061200" y="2133600"/>
            <a:ext cx="279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A2252B"/>
                </a:solidFill>
                <a:latin typeface="Aptos" panose="020B0004020202020204" pitchFamily="34" charset="0"/>
              </a:rPr>
              <a:t>46% unchanged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C8475A-3556-EFE6-58AA-F3241751EEE2}"/>
              </a:ext>
            </a:extLst>
          </p:cNvPr>
          <p:cNvSpPr/>
          <p:nvPr/>
        </p:nvSpPr>
        <p:spPr>
          <a:xfrm>
            <a:off x="812800" y="2844800"/>
            <a:ext cx="105664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B172AFD-8849-EFEF-3234-5A8E9AB3264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800" y="2997200"/>
            <a:ext cx="5994400" cy="299720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5A941C-7B04-4435-6ED6-50E86F526C1C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0C28E52-59C8-96C6-B6AC-BDD19572E3A3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4A5B63"/>
                </a:solidFill>
                <a:latin typeface="Aptos" panose="020B0004020202020204" pitchFamily="34" charset="0"/>
              </a:rPr>
              <a:t>The 58% request passes the independent 60% maximum. Network compromise is decisive.</a:t>
            </a:r>
          </a:p>
        </p:txBody>
      </p:sp>
    </p:spTree>
    <p:extLst>
      <p:ext uri="{BB962C8B-B14F-4D97-AF65-F5344CB8AC3E}">
        <p14:creationId xmlns:p14="http://schemas.microsoft.com/office/powerpoint/2010/main" val="322340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6BC04-C282-6DE3-FE9C-14E6F8F7B9BB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CONTROL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72D63-54B1-FDD6-6DE4-CC17AF14DD9C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Safety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46FB26-513A-0C1A-8E41-825AFB846EE7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FB6A77-638B-9D2E-790A-B07A48E9B83E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081B37-3F33-BAF7-181A-545D717357FA}"/>
              </a:ext>
            </a:extLst>
          </p:cNvPr>
          <p:cNvSpPr/>
          <p:nvPr/>
        </p:nvSpPr>
        <p:spPr>
          <a:xfrm>
            <a:off x="812800" y="2489200"/>
            <a:ext cx="18415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94192-7CB1-C6B3-CA69-081689087BC7}"/>
              </a:ext>
            </a:extLst>
          </p:cNvPr>
          <p:cNvSpPr txBox="1"/>
          <p:nvPr/>
        </p:nvSpPr>
        <p:spPr>
          <a:xfrm>
            <a:off x="990600" y="2743200"/>
            <a:ext cx="14859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Command hold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03B77-97A9-B53B-5BA0-28619CD920D5}"/>
              </a:ext>
            </a:extLst>
          </p:cNvPr>
          <p:cNvSpPr txBox="1"/>
          <p:nvPr/>
        </p:nvSpPr>
        <p:spPr>
          <a:xfrm>
            <a:off x="9906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No plant change during investigation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66335C3-42B0-4538-BC3D-F88878E70232}"/>
              </a:ext>
            </a:extLst>
          </p:cNvPr>
          <p:cNvSpPr/>
          <p:nvPr/>
        </p:nvSpPr>
        <p:spPr>
          <a:xfrm>
            <a:off x="2870200" y="2489200"/>
            <a:ext cx="1841500" cy="1955800"/>
          </a:xfrm>
          <a:prstGeom prst="roundRect">
            <a:avLst/>
          </a:prstGeom>
          <a:solidFill>
            <a:srgbClr val="DCEAE6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9B6B2A-C7F0-4F95-E1D1-11CD43379FD8}"/>
              </a:ext>
            </a:extLst>
          </p:cNvPr>
          <p:cNvSpPr txBox="1"/>
          <p:nvPr/>
        </p:nvSpPr>
        <p:spPr>
          <a:xfrm>
            <a:off x="3048000" y="2743200"/>
            <a:ext cx="14859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LangGraph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AFD9B6-E094-8DAD-EE3E-F5644B489594}"/>
              </a:ext>
            </a:extLst>
          </p:cNvPr>
          <p:cNvSpPr txBox="1"/>
          <p:nvPr/>
        </p:nvSpPr>
        <p:spPr>
          <a:xfrm>
            <a:off x="30480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Selects allowed CAMARA tools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7C07D0C-B7EB-B499-55C2-45BAD8DE0C76}"/>
              </a:ext>
            </a:extLst>
          </p:cNvPr>
          <p:cNvSpPr/>
          <p:nvPr/>
        </p:nvSpPr>
        <p:spPr>
          <a:xfrm>
            <a:off x="4927600" y="2489200"/>
            <a:ext cx="18415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8D873B-B73A-E4B5-F7EC-2D72FC157157}"/>
              </a:ext>
            </a:extLst>
          </p:cNvPr>
          <p:cNvSpPr txBox="1"/>
          <p:nvPr/>
        </p:nvSpPr>
        <p:spPr>
          <a:xfrm>
            <a:off x="5105400" y="2743200"/>
            <a:ext cx="148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Nokia NaC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590048-2FD1-6316-393D-DB26F38CD758}"/>
              </a:ext>
            </a:extLst>
          </p:cNvPr>
          <p:cNvSpPr txBox="1"/>
          <p:nvPr/>
        </p:nvSpPr>
        <p:spPr>
          <a:xfrm>
            <a:off x="51054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Returns network evidence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44E84D5-EE74-23E5-F162-B3B29D19D2B1}"/>
              </a:ext>
            </a:extLst>
          </p:cNvPr>
          <p:cNvSpPr/>
          <p:nvPr/>
        </p:nvSpPr>
        <p:spPr>
          <a:xfrm>
            <a:off x="6985000" y="2489200"/>
            <a:ext cx="1841500" cy="1955800"/>
          </a:xfrm>
          <a:prstGeom prst="roundRect">
            <a:avLst/>
          </a:prstGeom>
          <a:solidFill>
            <a:srgbClr val="E5DED0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D2B63F-1CB8-B306-F413-092B73E6A317}"/>
              </a:ext>
            </a:extLst>
          </p:cNvPr>
          <p:cNvSpPr txBox="1"/>
          <p:nvPr/>
        </p:nvSpPr>
        <p:spPr>
          <a:xfrm>
            <a:off x="7162800" y="2743200"/>
            <a:ext cx="14859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Safety policy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6FFA04-1BB8-26A4-5F38-088FD0706FF6}"/>
              </a:ext>
            </a:extLst>
          </p:cNvPr>
          <p:cNvSpPr txBox="1"/>
          <p:nvPr/>
        </p:nvSpPr>
        <p:spPr>
          <a:xfrm>
            <a:off x="7162800" y="3302000"/>
            <a:ext cx="14859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Issues final authorization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DA7E942-2BB6-928A-B50D-883D42E746D0}"/>
              </a:ext>
            </a:extLst>
          </p:cNvPr>
          <p:cNvSpPr/>
          <p:nvPr/>
        </p:nvSpPr>
        <p:spPr>
          <a:xfrm>
            <a:off x="9042400" y="2489200"/>
            <a:ext cx="2336800" cy="195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81C0AC-22E4-4258-0E72-64B388FBB848}"/>
              </a:ext>
            </a:extLst>
          </p:cNvPr>
          <p:cNvSpPr txBox="1"/>
          <p:nvPr/>
        </p:nvSpPr>
        <p:spPr>
          <a:xfrm>
            <a:off x="9220200" y="2743200"/>
            <a:ext cx="1981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Digital twin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D3620C-F54F-516B-08CC-4FFB951AE79D}"/>
              </a:ext>
            </a:extLst>
          </p:cNvPr>
          <p:cNvSpPr txBox="1"/>
          <p:nvPr/>
        </p:nvSpPr>
        <p:spPr>
          <a:xfrm>
            <a:off x="9220200" y="3302000"/>
            <a:ext cx="1981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Accepts only an authorized state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1F20D4-63F7-401B-2B9F-54E960ACB773}"/>
              </a:ext>
            </a:extLst>
          </p:cNvPr>
          <p:cNvCxnSpPr/>
          <p:nvPr/>
        </p:nvCxnSpPr>
        <p:spPr>
          <a:xfrm>
            <a:off x="26543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0486A01-8AF2-455F-B088-CBF948EC82DA}"/>
              </a:ext>
            </a:extLst>
          </p:cNvPr>
          <p:cNvCxnSpPr/>
          <p:nvPr/>
        </p:nvCxnSpPr>
        <p:spPr>
          <a:xfrm>
            <a:off x="47117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33D94AA-D673-6BC1-A020-83CFCC9AA3C7}"/>
              </a:ext>
            </a:extLst>
          </p:cNvPr>
          <p:cNvCxnSpPr/>
          <p:nvPr/>
        </p:nvCxnSpPr>
        <p:spPr>
          <a:xfrm>
            <a:off x="67691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0BF2DF7-643E-EAAA-E82D-33DFACBC67AC}"/>
              </a:ext>
            </a:extLst>
          </p:cNvPr>
          <p:cNvCxnSpPr/>
          <p:nvPr/>
        </p:nvCxnSpPr>
        <p:spPr>
          <a:xfrm>
            <a:off x="8826500" y="3467100"/>
            <a:ext cx="215900" cy="0"/>
          </a:xfrm>
          <a:prstGeom prst="line">
            <a:avLst/>
          </a:prstGeom>
          <a:ln w="25400">
            <a:solidFill>
              <a:srgbClr val="12584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7D919DF-0A05-D34C-C6E4-22C97A675A57}"/>
              </a:ext>
            </a:extLst>
          </p:cNvPr>
          <p:cNvSpPr txBox="1"/>
          <p:nvPr/>
        </p:nvSpPr>
        <p:spPr>
          <a:xfrm>
            <a:off x="2870200" y="4749800"/>
            <a:ext cx="1841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12584F"/>
                </a:solidFill>
                <a:latin typeface="Aptos" panose="020B0004020202020204" pitchFamily="34" charset="0"/>
              </a:rPr>
              <a:t>AI advises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44CECF-5256-3A3A-DE16-923A45A89A6A}"/>
              </a:ext>
            </a:extLst>
          </p:cNvPr>
          <p:cNvSpPr txBox="1"/>
          <p:nvPr/>
        </p:nvSpPr>
        <p:spPr>
          <a:xfrm>
            <a:off x="6985000" y="4749800"/>
            <a:ext cx="1841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A05D30"/>
                </a:solidFill>
                <a:latin typeface="Aptos" panose="020B0004020202020204" pitchFamily="34" charset="0"/>
              </a:rPr>
              <a:t>Policy authorizes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DDB64E-C851-CD2B-109C-44B7CF287891}"/>
              </a:ext>
            </a:extLst>
          </p:cNvPr>
          <p:cNvSpPr txBox="1"/>
          <p:nvPr/>
        </p:nvSpPr>
        <p:spPr>
          <a:xfrm>
            <a:off x="8966200" y="4749800"/>
            <a:ext cx="241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D222D"/>
                </a:solidFill>
                <a:latin typeface="Aptos" panose="020B0004020202020204" pitchFamily="34" charset="0"/>
              </a:rPr>
              <a:t>Plant state changes only after authorization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51C4AB2-F808-B084-C334-D1E73B8CE72B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069499C-E05A-C59E-A9BA-D52874404C38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76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6C584B-B875-E340-309B-AD3BD9673060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WORKING PROTOTYPE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29D6C8-EFFF-85DC-F576-433A512A171A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Verified connected attack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95D03-5DF1-05EE-1929-A3DA43FFA7B7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05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7942BF8-F451-E1D8-C7B1-057A02E69157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167266-29C5-8A2A-0646-9884EB89D749}"/>
              </a:ext>
            </a:extLst>
          </p:cNvPr>
          <p:cNvSpPr txBox="1"/>
          <p:nvPr/>
        </p:nvSpPr>
        <p:spPr>
          <a:xfrm>
            <a:off x="812800" y="1905000"/>
            <a:ext cx="304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LIVE LANGGRAPH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72222E-EC68-2C8A-CB70-CBCD8FFCED57}"/>
              </a:ext>
            </a:extLst>
          </p:cNvPr>
          <p:cNvSpPr txBox="1"/>
          <p:nvPr/>
        </p:nvSpPr>
        <p:spPr>
          <a:xfrm>
            <a:off x="812800" y="2235200"/>
            <a:ext cx="660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D222D"/>
                </a:solidFill>
                <a:latin typeface="Aptos" panose="020B0004020202020204" pitchFamily="34" charset="0"/>
              </a:rPr>
              <a:t>Model-selected evidence, one bound decision record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F0A1F-76A2-9DD8-ECBE-37E179862D89}"/>
              </a:ext>
            </a:extLst>
          </p:cNvPr>
          <p:cNvSpPr txBox="1"/>
          <p:nvPr/>
        </p:nvSpPr>
        <p:spPr>
          <a:xfrm>
            <a:off x="812800" y="30226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TOOL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E83E4-58E4-6CD2-147C-82EB5406C42F}"/>
              </a:ext>
            </a:extLst>
          </p:cNvPr>
          <p:cNvSpPr txBox="1"/>
          <p:nvPr/>
        </p:nvSpPr>
        <p:spPr>
          <a:xfrm>
            <a:off x="4978400" y="3022600"/>
            <a:ext cx="165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RESULT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7686A8-0AA6-7FA7-3783-37806924F5D9}"/>
              </a:ext>
            </a:extLst>
          </p:cNvPr>
          <p:cNvSpPr txBox="1"/>
          <p:nvPr/>
        </p:nvSpPr>
        <p:spPr>
          <a:xfrm>
            <a:off x="6959600" y="3022600"/>
            <a:ext cx="2159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4A5B63"/>
                </a:solidFill>
                <a:latin typeface="Aptos" panose="020B0004020202020204" pitchFamily="34" charset="0"/>
              </a:rPr>
              <a:t>SOURCE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A36C1A-C46D-1785-4E12-263000A45CA9}"/>
              </a:ext>
            </a:extLst>
          </p:cNvPr>
          <p:cNvCxnSpPr/>
          <p:nvPr/>
        </p:nvCxnSpPr>
        <p:spPr>
          <a:xfrm>
            <a:off x="812800" y="32766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0E0D021-948E-AEDE-F721-2DFE698568D6}"/>
              </a:ext>
            </a:extLst>
          </p:cNvPr>
          <p:cNvSpPr txBox="1"/>
          <p:nvPr/>
        </p:nvSpPr>
        <p:spPr>
          <a:xfrm>
            <a:off x="812800" y="34036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Location Verification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477E9-8A5C-4527-0D7F-174B91987A13}"/>
              </a:ext>
            </a:extLst>
          </p:cNvPr>
          <p:cNvSpPr txBox="1"/>
          <p:nvPr/>
        </p:nvSpPr>
        <p:spPr>
          <a:xfrm>
            <a:off x="4978400" y="34036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Outside approved area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F18CBD-8C9A-AE41-CE77-78405FB2C740}"/>
              </a:ext>
            </a:extLst>
          </p:cNvPr>
          <p:cNvSpPr txBox="1"/>
          <p:nvPr/>
        </p:nvSpPr>
        <p:spPr>
          <a:xfrm>
            <a:off x="6959600" y="34036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BD2517C-FDDA-FFDA-9212-43039E900B39}"/>
              </a:ext>
            </a:extLst>
          </p:cNvPr>
          <p:cNvCxnSpPr/>
          <p:nvPr/>
        </p:nvCxnSpPr>
        <p:spPr>
          <a:xfrm>
            <a:off x="812800" y="38608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D6E1F5-F2D8-3E77-B02C-D5E61016B6B4}"/>
              </a:ext>
            </a:extLst>
          </p:cNvPr>
          <p:cNvSpPr txBox="1"/>
          <p:nvPr/>
        </p:nvSpPr>
        <p:spPr>
          <a:xfrm>
            <a:off x="812800" y="39878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Device Reachability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9156BD-1260-F815-F899-19D87FCFAE72}"/>
              </a:ext>
            </a:extLst>
          </p:cNvPr>
          <p:cNvSpPr txBox="1"/>
          <p:nvPr/>
        </p:nvSpPr>
        <p:spPr>
          <a:xfrm>
            <a:off x="4978400" y="39878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Reachable by SMS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0A5CFB-D188-8114-84EB-291157A1CF60}"/>
              </a:ext>
            </a:extLst>
          </p:cNvPr>
          <p:cNvSpPr txBox="1"/>
          <p:nvPr/>
        </p:nvSpPr>
        <p:spPr>
          <a:xfrm>
            <a:off x="6959600" y="39878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144FF7-3132-33CE-ABAB-3676DDD3911B}"/>
              </a:ext>
            </a:extLst>
          </p:cNvPr>
          <p:cNvCxnSpPr/>
          <p:nvPr/>
        </p:nvCxnSpPr>
        <p:spPr>
          <a:xfrm>
            <a:off x="812800" y="44450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214071E-4281-1E7F-D694-7776F1AF77BB}"/>
              </a:ext>
            </a:extLst>
          </p:cNvPr>
          <p:cNvSpPr txBox="1"/>
          <p:nvPr/>
        </p:nvSpPr>
        <p:spPr>
          <a:xfrm>
            <a:off x="812800" y="45720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SIM Swap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5CAA85-31E5-5ECE-59B4-0377EB12E039}"/>
              </a:ext>
            </a:extLst>
          </p:cNvPr>
          <p:cNvSpPr txBox="1"/>
          <p:nvPr/>
        </p:nvSpPr>
        <p:spPr>
          <a:xfrm>
            <a:off x="4978400" y="45720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Recent change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1E2F47C-074F-7682-3CD0-0860D61D7549}"/>
              </a:ext>
            </a:extLst>
          </p:cNvPr>
          <p:cNvSpPr txBox="1"/>
          <p:nvPr/>
        </p:nvSpPr>
        <p:spPr>
          <a:xfrm>
            <a:off x="6959600" y="45720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68D771-1EAD-6F29-3F04-8749DAB6F713}"/>
              </a:ext>
            </a:extLst>
          </p:cNvPr>
          <p:cNvCxnSpPr/>
          <p:nvPr/>
        </p:nvCxnSpPr>
        <p:spPr>
          <a:xfrm>
            <a:off x="812800" y="5029200"/>
            <a:ext cx="8280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1E2EF51-E7A0-BBCB-0F17-1B5D3341B762}"/>
              </a:ext>
            </a:extLst>
          </p:cNvPr>
          <p:cNvSpPr txBox="1"/>
          <p:nvPr/>
        </p:nvSpPr>
        <p:spPr>
          <a:xfrm>
            <a:off x="812800" y="5156200"/>
            <a:ext cx="355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Device Swap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B26971-4E71-9559-327C-9ABB848DDC0B}"/>
              </a:ext>
            </a:extLst>
          </p:cNvPr>
          <p:cNvSpPr txBox="1"/>
          <p:nvPr/>
        </p:nvSpPr>
        <p:spPr>
          <a:xfrm>
            <a:off x="4978400" y="5156200"/>
            <a:ext cx="177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 b="1">
                <a:solidFill>
                  <a:srgbClr val="A2252B"/>
                </a:solidFill>
                <a:latin typeface="Aptos" panose="020B0004020202020204" pitchFamily="34" charset="0"/>
              </a:rPr>
              <a:t>Recent change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C62059-9259-DEFC-67CB-17FEA9DB2840}"/>
              </a:ext>
            </a:extLst>
          </p:cNvPr>
          <p:cNvSpPr txBox="1"/>
          <p:nvPr/>
        </p:nvSpPr>
        <p:spPr>
          <a:xfrm>
            <a:off x="6959600" y="5156200"/>
            <a:ext cx="2133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NOKIA SANDBOX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432C86F-5302-2C22-303D-26D876091200}"/>
              </a:ext>
            </a:extLst>
          </p:cNvPr>
          <p:cNvSpPr/>
          <p:nvPr/>
        </p:nvSpPr>
        <p:spPr>
          <a:xfrm>
            <a:off x="9499600" y="1955800"/>
            <a:ext cx="1879600" cy="3632200"/>
          </a:xfrm>
          <a:prstGeom prst="roundRect">
            <a:avLst/>
          </a:prstGeom>
          <a:solidFill>
            <a:srgbClr val="E5DED0"/>
          </a:solidFill>
          <a:ln w="12700">
            <a:solidFill>
              <a:srgbClr val="E5D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18E90C-AE74-7260-3ED0-888738BDADAA}"/>
              </a:ext>
            </a:extLst>
          </p:cNvPr>
          <p:cNvSpPr txBox="1"/>
          <p:nvPr/>
        </p:nvSpPr>
        <p:spPr>
          <a:xfrm>
            <a:off x="9779000" y="2286000"/>
            <a:ext cx="1320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05D30"/>
                </a:solidFill>
                <a:latin typeface="Aptos" panose="020B0004020202020204" pitchFamily="34" charset="0"/>
              </a:rPr>
              <a:t>FINAL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E63047-229A-46C8-D779-629A4F9570C5}"/>
              </a:ext>
            </a:extLst>
          </p:cNvPr>
          <p:cNvSpPr txBox="1"/>
          <p:nvPr/>
        </p:nvSpPr>
        <p:spPr>
          <a:xfrm>
            <a:off x="9779000" y="2667000"/>
            <a:ext cx="13208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A2252B"/>
                </a:solidFill>
                <a:latin typeface="Aptos" panose="020B0004020202020204" pitchFamily="34" charset="0"/>
              </a:rPr>
              <a:t>BLOCK AND CONTAIN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6D866E-2141-9393-1A4F-55C7BB68D95F}"/>
              </a:ext>
            </a:extLst>
          </p:cNvPr>
          <p:cNvSpPr txBox="1"/>
          <p:nvPr/>
        </p:nvSpPr>
        <p:spPr>
          <a:xfrm>
            <a:off x="9779000" y="3860800"/>
            <a:ext cx="1320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4A5B63"/>
                </a:solidFill>
                <a:latin typeface="Aptos" panose="020B0004020202020204" pitchFamily="34" charset="0"/>
              </a:rPr>
              <a:t>Accepted pressure remained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053BA9-E704-DCE6-59A0-5115DFDF40B3}"/>
              </a:ext>
            </a:extLst>
          </p:cNvPr>
          <p:cNvSpPr txBox="1"/>
          <p:nvPr/>
        </p:nvSpPr>
        <p:spPr>
          <a:xfrm>
            <a:off x="9779000" y="4546600"/>
            <a:ext cx="1320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D222D"/>
                </a:solidFill>
                <a:latin typeface="Aptos" panose="020B0004020202020204" pitchFamily="34" charset="0"/>
              </a:rPr>
              <a:t>46%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5A16C0-A09C-21B9-B7A4-C190191262DA}"/>
              </a:ext>
            </a:extLst>
          </p:cNvPr>
          <p:cNvSpPr txBox="1"/>
          <p:nvPr/>
        </p:nvSpPr>
        <p:spPr>
          <a:xfrm>
            <a:off x="812800" y="5816600"/>
            <a:ext cx="7620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4A5B63"/>
                </a:solidFill>
                <a:latin typeface="Consolas" panose="020B0609020204030204" pitchFamily="49" charset="0"/>
              </a:rPr>
              <a:t>hisn-f67079c8-848f-4505-b998-85e20bf54702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75AC129-7365-9574-8013-F77A322328D1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62A6569-44E8-2231-0031-D3393D8228CC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4A5B63"/>
                </a:solidFill>
                <a:latin typeface="Aptos" panose="020B0004020202020204" pitchFamily="34" charset="0"/>
              </a:rPr>
              <a:t>Public connected run completed 12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535605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0C27AD-AD19-0BCD-64D5-341E3A4ED3EF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AGENTIC AI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4388C-E8DC-6600-1562-3B21337ACAF4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Agent responsibility and policy authority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BACE2-0297-3374-1E61-28E8FA8D0694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C4A880-0DEF-2248-E1B4-2D31B5EC2EF8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6D470D-EECA-328F-CBD7-2C24CA2F0641}"/>
              </a:ext>
            </a:extLst>
          </p:cNvPr>
          <p:cNvSpPr/>
          <p:nvPr/>
        </p:nvSpPr>
        <p:spPr>
          <a:xfrm>
            <a:off x="812800" y="1955800"/>
            <a:ext cx="4978400" cy="3860800"/>
          </a:xfrm>
          <a:prstGeom prst="roundRect">
            <a:avLst/>
          </a:prstGeom>
          <a:solidFill>
            <a:srgbClr val="DCEAE6"/>
          </a:solidFill>
          <a:ln w="12700">
            <a:solidFill>
              <a:srgbClr val="DCEA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937308-9B6A-09B7-4511-D927BC44C642}"/>
              </a:ext>
            </a:extLst>
          </p:cNvPr>
          <p:cNvSpPr/>
          <p:nvPr/>
        </p:nvSpPr>
        <p:spPr>
          <a:xfrm>
            <a:off x="6400800" y="1955800"/>
            <a:ext cx="4978400" cy="386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DE040-3DDA-FD58-7615-7D9A7A84047E}"/>
              </a:ext>
            </a:extLst>
          </p:cNvPr>
          <p:cNvSpPr txBox="1"/>
          <p:nvPr/>
        </p:nvSpPr>
        <p:spPr>
          <a:xfrm>
            <a:off x="1117600" y="2286000"/>
            <a:ext cx="406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12584F"/>
                </a:solidFill>
                <a:latin typeface="Aptos" panose="020B0004020202020204" pitchFamily="34" charset="0"/>
              </a:rPr>
              <a:t>AI agent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54093F-9DE1-06B0-9672-B1100F42102D}"/>
              </a:ext>
            </a:extLst>
          </p:cNvPr>
          <p:cNvSpPr txBox="1"/>
          <p:nvPr/>
        </p:nvSpPr>
        <p:spPr>
          <a:xfrm>
            <a:off x="1117600" y="2997200"/>
            <a:ext cx="4064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Understands the command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Selects allowed tools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Observes Nokia responses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Recommends an 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08606E-1B2B-40D2-7439-BA0AB4631D3E}"/>
              </a:ext>
            </a:extLst>
          </p:cNvPr>
          <p:cNvSpPr txBox="1"/>
          <p:nvPr/>
        </p:nvSpPr>
        <p:spPr>
          <a:xfrm>
            <a:off x="6705600" y="2286000"/>
            <a:ext cx="4064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300" b="1">
                <a:solidFill>
                  <a:srgbClr val="A05D30"/>
                </a:solidFill>
                <a:latin typeface="Aptos" panose="020B0004020202020204" pitchFamily="34" charset="0"/>
              </a:rPr>
              <a:t>Deterministic policy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6A49A-5527-F7AC-E0C2-13DF60CFD2D7}"/>
              </a:ext>
            </a:extLst>
          </p:cNvPr>
          <p:cNvSpPr txBox="1"/>
          <p:nvPr/>
        </p:nvSpPr>
        <p:spPr>
          <a:xfrm>
            <a:off x="6705600" y="2997200"/>
            <a:ext cx="4064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Enforces the evidence floor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Checks engineering limits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Issues final authorization</a:t>
            </a:r>
          </a:p>
          <a:p>
            <a:r>
              <a:rPr lang="en-US" sz="1700">
                <a:solidFill>
                  <a:srgbClr val="0D222D"/>
                </a:solidFill>
                <a:latin typeface="Aptos" panose="020B0004020202020204" pitchFamily="34" charset="0"/>
              </a:rPr>
              <a:t>Guards every plant change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C12AF4-495E-83B6-A1E1-8F34984AF57A}"/>
              </a:ext>
            </a:extLst>
          </p:cNvPr>
          <p:cNvSpPr txBox="1"/>
          <p:nvPr/>
        </p:nvSpPr>
        <p:spPr>
          <a:xfrm>
            <a:off x="1117600" y="5410200"/>
            <a:ext cx="2235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A2252B"/>
                </a:solidFill>
                <a:latin typeface="Aptos" panose="020B0004020202020204" pitchFamily="34" charset="0"/>
              </a:rPr>
              <a:t>Hosted AI unavailable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C41BC-51AD-F599-DD00-81A0EBB1ECC4}"/>
              </a:ext>
            </a:extLst>
          </p:cNvPr>
          <p:cNvSpPr txBox="1"/>
          <p:nvPr/>
        </p:nvSpPr>
        <p:spPr>
          <a:xfrm>
            <a:off x="3352800" y="5410200"/>
            <a:ext cx="203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0D222D"/>
                </a:solidFill>
                <a:latin typeface="2"/>
              </a:rPr>
              <a:t>Command stays held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65BDB58-6CB3-A3E6-C6D1-7A1D978EFD47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1DBDEEE-ED90-90CC-4699-35526D716675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623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7498C-A6B1-A8AC-95A9-9B4B28782FF7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ALLOW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BC02C-F6B8-0E9A-0612-DDD56334B617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Positive controls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53ACD1-B252-4DC0-7714-FEE8820D9146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07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CC8FC9-517E-B265-A5DC-128A9FD0E374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788F01-2CB6-104C-F674-655ABC8A4F75}"/>
              </a:ext>
            </a:extLst>
          </p:cNvPr>
          <p:cNvSpPr/>
          <p:nvPr/>
        </p:nvSpPr>
        <p:spPr>
          <a:xfrm>
            <a:off x="812800" y="1930400"/>
            <a:ext cx="4978400" cy="3530600"/>
          </a:xfrm>
          <a:prstGeom prst="roundRect">
            <a:avLst/>
          </a:prstGeom>
          <a:solidFill>
            <a:srgbClr val="DCEAE6"/>
          </a:solidFill>
          <a:ln w="12700">
            <a:solidFill>
              <a:srgbClr val="DCEA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5E5E3-84C1-C68F-4679-D379E87DB810}"/>
              </a:ext>
            </a:extLst>
          </p:cNvPr>
          <p:cNvSpPr txBox="1"/>
          <p:nvPr/>
        </p:nvSpPr>
        <p:spPr>
          <a:xfrm>
            <a:off x="1117600" y="2260600"/>
            <a:ext cx="279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SAFE COMMAND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706A9D-4E6F-89FB-D6C4-6453F3D58E8B}"/>
              </a:ext>
            </a:extLst>
          </p:cNvPr>
          <p:cNvSpPr txBox="1"/>
          <p:nvPr/>
        </p:nvSpPr>
        <p:spPr>
          <a:xfrm>
            <a:off x="1117600" y="26924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2584F"/>
                </a:solidFill>
                <a:latin typeface="Aptos" panose="020B0004020202020204" pitchFamily="34" charset="0"/>
              </a:rPr>
              <a:t>52% allowed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9BC37-7222-990D-8868-70F230ED6C79}"/>
              </a:ext>
            </a:extLst>
          </p:cNvPr>
          <p:cNvSpPr txBox="1"/>
          <p:nvPr/>
        </p:nvSpPr>
        <p:spPr>
          <a:xfrm>
            <a:off x="1117600" y="3581400"/>
            <a:ext cx="3810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Location Verification</a:t>
            </a:r>
          </a:p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Device Reachability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FDF06C-7243-495D-57B3-D826357AD556}"/>
              </a:ext>
            </a:extLst>
          </p:cNvPr>
          <p:cNvSpPr txBox="1"/>
          <p:nvPr/>
        </p:nvSpPr>
        <p:spPr>
          <a:xfrm>
            <a:off x="1117600" y="45974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2 successful Nokia Sandbox calls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D4A6A-4F08-8B54-836D-435218BC8FD5}"/>
              </a:ext>
            </a:extLst>
          </p:cNvPr>
          <p:cNvSpPr txBox="1"/>
          <p:nvPr/>
        </p:nvSpPr>
        <p:spPr>
          <a:xfrm>
            <a:off x="1117600" y="5105400"/>
            <a:ext cx="4064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4A5B63"/>
                </a:solidFill>
                <a:latin typeface="Consolas" panose="020B0609020204030204" pitchFamily="49" charset="0"/>
              </a:rPr>
              <a:t>hisn-680ab711-07e2-4d22-9b61-fc6b6905c0e0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41BA18-23D5-DAC9-A9BE-9F48763DB888}"/>
              </a:ext>
            </a:extLst>
          </p:cNvPr>
          <p:cNvSpPr/>
          <p:nvPr/>
        </p:nvSpPr>
        <p:spPr>
          <a:xfrm>
            <a:off x="6400800" y="1930400"/>
            <a:ext cx="49784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C9C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349885-6C38-8ABE-FD1E-AE045552AA04}"/>
              </a:ext>
            </a:extLst>
          </p:cNvPr>
          <p:cNvSpPr txBox="1"/>
          <p:nvPr/>
        </p:nvSpPr>
        <p:spPr>
          <a:xfrm>
            <a:off x="6705600" y="22606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READ-ONLY INSPECTION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6CC972-9FDC-5F65-D1FC-1F5D7EFAB2F3}"/>
              </a:ext>
            </a:extLst>
          </p:cNvPr>
          <p:cNvSpPr txBox="1"/>
          <p:nvPr/>
        </p:nvSpPr>
        <p:spPr>
          <a:xfrm>
            <a:off x="6705600" y="2692400"/>
            <a:ext cx="3810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12584F"/>
                </a:solidFill>
                <a:latin typeface="Aptos" panose="020B0004020202020204" pitchFamily="34" charset="0"/>
              </a:rPr>
              <a:t>Allowed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830F1B-E351-03D9-A66A-6EF86E02FA28}"/>
              </a:ext>
            </a:extLst>
          </p:cNvPr>
          <p:cNvSpPr txBox="1"/>
          <p:nvPr/>
        </p:nvSpPr>
        <p:spPr>
          <a:xfrm>
            <a:off x="6705600" y="3581400"/>
            <a:ext cx="381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D222D"/>
                </a:solidFill>
                <a:latin typeface="Aptos" panose="020B0004020202020204" pitchFamily="34" charset="0"/>
              </a:rPr>
              <a:t>Device Reachability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44AFB1-7AA1-6A99-F810-53D590387D8D}"/>
              </a:ext>
            </a:extLst>
          </p:cNvPr>
          <p:cNvSpPr txBox="1"/>
          <p:nvPr/>
        </p:nvSpPr>
        <p:spPr>
          <a:xfrm>
            <a:off x="6705600" y="45974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1 successful Nokia Sandbox call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B4E172-4EC6-8664-1418-1B09FD5397C6}"/>
              </a:ext>
            </a:extLst>
          </p:cNvPr>
          <p:cNvSpPr txBox="1"/>
          <p:nvPr/>
        </p:nvSpPr>
        <p:spPr>
          <a:xfrm>
            <a:off x="6705600" y="5105400"/>
            <a:ext cx="4064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700">
                <a:solidFill>
                  <a:srgbClr val="4A5B63"/>
                </a:solidFill>
                <a:latin typeface="Consolas" panose="020B0609020204030204" pitchFamily="49" charset="0"/>
              </a:rPr>
              <a:t>hisn-d0a8741b-5e97-4a9f-8149-c790eb8b4d2d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9FF1FB-03FF-823D-0CF5-9685268A0BAF}"/>
              </a:ext>
            </a:extLst>
          </p:cNvPr>
          <p:cNvSpPr txBox="1"/>
          <p:nvPr/>
        </p:nvSpPr>
        <p:spPr>
          <a:xfrm>
            <a:off x="812800" y="5791200"/>
            <a:ext cx="10566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D222D"/>
                </a:solidFill>
                <a:latin typeface="Aptos" panose="020B0004020202020204" pitchFamily="34" charset="0"/>
              </a:rPr>
              <a:t>Both runs used live hosted reasoning and produced sealed incident records.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9842527-1C13-5106-D144-A7F5D1DE4E28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699561A-D45E-4547-92F3-E27F9A831C86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64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CF5B16-2A0F-E83B-32E7-1345DE6DECB7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COMMERCIAL PATH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36162-4995-F29E-34A0-90170090B891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One-site pilot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4A609-4B5C-F5B7-7613-2DA881F9C9B8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08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CA8702-4A11-664F-2D29-930B26DB1BEE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BA5377D-2B24-6C05-DCEF-572F65BE448F}"/>
              </a:ext>
            </a:extLst>
          </p:cNvPr>
          <p:cNvSpPr txBox="1"/>
          <p:nvPr/>
        </p:nvSpPr>
        <p:spPr>
          <a:xfrm>
            <a:off x="812800" y="19304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Buyer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14D7F-ED72-D80C-F51E-4FC655D04CBA}"/>
              </a:ext>
            </a:extLst>
          </p:cNvPr>
          <p:cNvSpPr txBox="1"/>
          <p:nvPr/>
        </p:nvSpPr>
        <p:spPr>
          <a:xfrm>
            <a:off x="812800" y="2260600"/>
            <a:ext cx="4699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D222D"/>
                </a:solidFill>
                <a:latin typeface="Aptos" panose="020B0004020202020204" pitchFamily="34" charset="0"/>
              </a:rPr>
              <a:t>OT security and industrial operations leadership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DD373-A4A6-A4A8-BD14-FB64BD091E51}"/>
              </a:ext>
            </a:extLst>
          </p:cNvPr>
          <p:cNvSpPr txBox="1"/>
          <p:nvPr/>
        </p:nvSpPr>
        <p:spPr>
          <a:xfrm>
            <a:off x="812800" y="3200400"/>
            <a:ext cx="190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Scope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DE3FFE-9ED4-9AEE-DB0D-EF135AF05E06}"/>
              </a:ext>
            </a:extLst>
          </p:cNvPr>
          <p:cNvSpPr txBox="1"/>
          <p:nvPr/>
        </p:nvSpPr>
        <p:spPr>
          <a:xfrm>
            <a:off x="812800" y="3530600"/>
            <a:ext cx="4699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0D222D"/>
                </a:solidFill>
                <a:latin typeface="Aptos" panose="020B0004020202020204" pitchFamily="34" charset="0"/>
              </a:rPr>
              <a:t>One pumping site and one critical command family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9F8F3-3027-D7D1-998D-30C5E4068D7F}"/>
              </a:ext>
            </a:extLst>
          </p:cNvPr>
          <p:cNvSpPr txBox="1"/>
          <p:nvPr/>
        </p:nvSpPr>
        <p:spPr>
          <a:xfrm>
            <a:off x="812800" y="4597400"/>
            <a:ext cx="228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Commercial hypothesis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3BFC0E-CCBF-72B1-F5B5-90DF5AF9ED73}"/>
              </a:ext>
            </a:extLst>
          </p:cNvPr>
          <p:cNvSpPr txBox="1"/>
          <p:nvPr/>
        </p:nvSpPr>
        <p:spPr>
          <a:xfrm>
            <a:off x="812800" y="4927600"/>
            <a:ext cx="469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Per-site subscription with integration and assurance services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A274C7-B4C2-8020-767A-612C31B2AF38}"/>
              </a:ext>
            </a:extLst>
          </p:cNvPr>
          <p:cNvCxnSpPr/>
          <p:nvPr/>
        </p:nvCxnSpPr>
        <p:spPr>
          <a:xfrm>
            <a:off x="6350000" y="2387600"/>
            <a:ext cx="0" cy="3022600"/>
          </a:xfrm>
          <a:prstGeom prst="line">
            <a:avLst/>
          </a:prstGeom>
          <a:ln w="381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32097F6-E6F4-84FD-3B5E-670AEB7C7AC7}"/>
              </a:ext>
            </a:extLst>
          </p:cNvPr>
          <p:cNvSpPr/>
          <p:nvPr/>
        </p:nvSpPr>
        <p:spPr>
          <a:xfrm>
            <a:off x="6121400" y="2298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C56C76-5286-B7F2-979D-861577F8668B}"/>
              </a:ext>
            </a:extLst>
          </p:cNvPr>
          <p:cNvSpPr txBox="1"/>
          <p:nvPr/>
        </p:nvSpPr>
        <p:spPr>
          <a:xfrm>
            <a:off x="6172200" y="2400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E5BB9-DA26-AE0F-00E9-BE6AABBFC99A}"/>
              </a:ext>
            </a:extLst>
          </p:cNvPr>
          <p:cNvSpPr txBox="1"/>
          <p:nvPr/>
        </p:nvSpPr>
        <p:spPr>
          <a:xfrm>
            <a:off x="6934200" y="2235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Discovery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D813B2-C00F-656D-95B4-52CA448E5D82}"/>
              </a:ext>
            </a:extLst>
          </p:cNvPr>
          <p:cNvSpPr txBox="1"/>
          <p:nvPr/>
        </p:nvSpPr>
        <p:spPr>
          <a:xfrm>
            <a:off x="6934200" y="2578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Map one command workflow and identity path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7668FEF-A67A-C88E-65A0-BBB1FE589200}"/>
              </a:ext>
            </a:extLst>
          </p:cNvPr>
          <p:cNvSpPr/>
          <p:nvPr/>
        </p:nvSpPr>
        <p:spPr>
          <a:xfrm>
            <a:off x="6121400" y="3187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ED5831-1785-A76B-5489-5C1261EE4E03}"/>
              </a:ext>
            </a:extLst>
          </p:cNvPr>
          <p:cNvSpPr txBox="1"/>
          <p:nvPr/>
        </p:nvSpPr>
        <p:spPr>
          <a:xfrm>
            <a:off x="6172200" y="3289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A8FA35-CA0F-D14B-1191-05715BEE1768}"/>
              </a:ext>
            </a:extLst>
          </p:cNvPr>
          <p:cNvSpPr txBox="1"/>
          <p:nvPr/>
        </p:nvSpPr>
        <p:spPr>
          <a:xfrm>
            <a:off x="6934200" y="3124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Observation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F67FAD-F26E-99C4-8022-31FD5CA193F3}"/>
              </a:ext>
            </a:extLst>
          </p:cNvPr>
          <p:cNvSpPr txBox="1"/>
          <p:nvPr/>
        </p:nvSpPr>
        <p:spPr>
          <a:xfrm>
            <a:off x="6934200" y="3467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Measure decisions without control writes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9CCA56A-4ABE-3CE6-0290-B90FF3627736}"/>
              </a:ext>
            </a:extLst>
          </p:cNvPr>
          <p:cNvSpPr/>
          <p:nvPr/>
        </p:nvSpPr>
        <p:spPr>
          <a:xfrm>
            <a:off x="6121400" y="4076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C2A1D3-8FC9-1B9A-7D08-AC9773327905}"/>
              </a:ext>
            </a:extLst>
          </p:cNvPr>
          <p:cNvSpPr txBox="1"/>
          <p:nvPr/>
        </p:nvSpPr>
        <p:spPr>
          <a:xfrm>
            <a:off x="6172200" y="4178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C0D6E1-FEC7-B95C-ECAE-E08781592B25}"/>
              </a:ext>
            </a:extLst>
          </p:cNvPr>
          <p:cNvSpPr txBox="1"/>
          <p:nvPr/>
        </p:nvSpPr>
        <p:spPr>
          <a:xfrm>
            <a:off x="6934200" y="4013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Validation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84BB2A-6530-59B3-D960-A87DF66C2FF5}"/>
              </a:ext>
            </a:extLst>
          </p:cNvPr>
          <p:cNvSpPr txBox="1"/>
          <p:nvPr/>
        </p:nvSpPr>
        <p:spPr>
          <a:xfrm>
            <a:off x="6934200" y="4356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Review false blocks, latency, and audit quality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8861C7E-023F-D0A3-2C4C-F9CDC2A8EAAC}"/>
              </a:ext>
            </a:extLst>
          </p:cNvPr>
          <p:cNvSpPr/>
          <p:nvPr/>
        </p:nvSpPr>
        <p:spPr>
          <a:xfrm>
            <a:off x="6121400" y="4965700"/>
            <a:ext cx="457200" cy="4572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29348F-430C-06FC-D120-AA666DC0C9DB}"/>
              </a:ext>
            </a:extLst>
          </p:cNvPr>
          <p:cNvSpPr txBox="1"/>
          <p:nvPr/>
        </p:nvSpPr>
        <p:spPr>
          <a:xfrm>
            <a:off x="6172200" y="50673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onsolas" panose="020B0609020204030204" pitchFamily="49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25F03F-64BE-AACC-BC9D-5F99AC4382E8}"/>
              </a:ext>
            </a:extLst>
          </p:cNvPr>
          <p:cNvSpPr txBox="1"/>
          <p:nvPr/>
        </p:nvSpPr>
        <p:spPr>
          <a:xfrm>
            <a:off x="6934200" y="49022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D222D"/>
                </a:solidFill>
                <a:latin typeface="Aptos" panose="020B0004020202020204" pitchFamily="34" charset="0"/>
              </a:rPr>
              <a:t>Integration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26BFB3-5460-D2E1-3E9C-B5A15432D9E3}"/>
              </a:ext>
            </a:extLst>
          </p:cNvPr>
          <p:cNvSpPr txBox="1"/>
          <p:nvPr/>
        </p:nvSpPr>
        <p:spPr>
          <a:xfrm>
            <a:off x="6934200" y="5245100"/>
            <a:ext cx="4191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4A5B63"/>
                </a:solidFill>
                <a:latin typeface="Aptos" panose="020B0004020202020204" pitchFamily="34" charset="0"/>
              </a:rPr>
              <a:t>Connect an approved gateway under site controls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5748FB-1D93-56D8-0415-EF93D80AF9F9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9FB3EFC-F87C-E68F-B4ED-7D09400A11AF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912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612955-9EF4-5C27-E690-9C5B9A9A84F0}"/>
              </a:ext>
            </a:extLst>
          </p:cNvPr>
          <p:cNvSpPr txBox="1"/>
          <p:nvPr/>
        </p:nvSpPr>
        <p:spPr>
          <a:xfrm>
            <a:off x="812800" y="355600"/>
            <a:ext cx="6604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00" b="1">
                <a:solidFill>
                  <a:srgbClr val="12584F"/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7FBA27-69E3-04D5-EA3A-0DB6C673366C}"/>
              </a:ext>
            </a:extLst>
          </p:cNvPr>
          <p:cNvSpPr txBox="1"/>
          <p:nvPr/>
        </p:nvSpPr>
        <p:spPr>
          <a:xfrm>
            <a:off x="812800" y="736600"/>
            <a:ext cx="10795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0D222D"/>
                </a:solidFill>
                <a:latin typeface="Aptos" panose="020B0004020202020204" pitchFamily="34" charset="0"/>
              </a:rPr>
              <a:t>Scale across remote critical assets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6BBA46-E48F-1251-0A97-2508E3B2A045}"/>
              </a:ext>
            </a:extLst>
          </p:cNvPr>
          <p:cNvSpPr txBox="1"/>
          <p:nvPr/>
        </p:nvSpPr>
        <p:spPr>
          <a:xfrm>
            <a:off x="11277600" y="431800"/>
            <a:ext cx="4572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000">
                <a:solidFill>
                  <a:srgbClr val="4A5B63"/>
                </a:solidFill>
                <a:latin typeface="Consolas" panose="020B0609020204030204" pitchFamily="49" charset="0"/>
              </a:rPr>
              <a:t>09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2A67C3-9EB5-C95E-206C-2FA89EEB37B3}"/>
              </a:ext>
            </a:extLst>
          </p:cNvPr>
          <p:cNvCxnSpPr/>
          <p:nvPr/>
        </p:nvCxnSpPr>
        <p:spPr>
          <a:xfrm>
            <a:off x="812800" y="1498600"/>
            <a:ext cx="10566400" cy="0"/>
          </a:xfrm>
          <a:prstGeom prst="line">
            <a:avLst/>
          </a:prstGeom>
          <a:ln w="1270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CA9607-1974-5D8C-E939-61F80EDE112F}"/>
              </a:ext>
            </a:extLst>
          </p:cNvPr>
          <p:cNvSpPr/>
          <p:nvPr/>
        </p:nvSpPr>
        <p:spPr>
          <a:xfrm>
            <a:off x="812800" y="2260600"/>
            <a:ext cx="3048000" cy="2590800"/>
          </a:xfrm>
          <a:prstGeom prst="roundRect">
            <a:avLst/>
          </a:prstGeom>
          <a:solidFill>
            <a:srgbClr val="12584F"/>
          </a:solidFill>
          <a:ln w="12700">
            <a:solidFill>
              <a:srgbClr val="12584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5EFFB-B73C-938F-F5B0-BB3B7070F0FB}"/>
              </a:ext>
            </a:extLst>
          </p:cNvPr>
          <p:cNvSpPr txBox="1"/>
          <p:nvPr/>
        </p:nvSpPr>
        <p:spPr>
          <a:xfrm>
            <a:off x="1168400" y="2768600"/>
            <a:ext cx="2336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700" b="1">
                <a:solidFill>
                  <a:srgbClr val="FFFFFF"/>
                </a:solidFill>
                <a:latin typeface="Aptos" panose="020B0004020202020204" pitchFamily="34" charset="0"/>
              </a:rPr>
              <a:t>HISN-Oil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48EFE1-8C1F-607E-8344-52236D640A4B}"/>
              </a:ext>
            </a:extLst>
          </p:cNvPr>
          <p:cNvSpPr txBox="1"/>
          <p:nvPr/>
        </p:nvSpPr>
        <p:spPr>
          <a:xfrm>
            <a:off x="1168400" y="3429000"/>
            <a:ext cx="2336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</a:rPr>
              <a:t>Reusable safety gate for cellular command paths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FA604A-0331-062F-7328-B9FDBA44CFDF}"/>
              </a:ext>
            </a:extLst>
          </p:cNvPr>
          <p:cNvCxnSpPr/>
          <p:nvPr/>
        </p:nvCxnSpPr>
        <p:spPr>
          <a:xfrm flipV="1">
            <a:off x="3860800" y="2311400"/>
            <a:ext cx="736600" cy="1244600"/>
          </a:xfrm>
          <a:prstGeom prst="line">
            <a:avLst/>
          </a:prstGeom>
          <a:ln w="254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18DF06C-791F-A24B-BA83-06933B5AF0FD}"/>
              </a:ext>
            </a:extLst>
          </p:cNvPr>
          <p:cNvSpPr txBox="1"/>
          <p:nvPr/>
        </p:nvSpPr>
        <p:spPr>
          <a:xfrm>
            <a:off x="4953000" y="1955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Operator identity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4FC1A1-C2DB-6B84-B380-BB478F3AA9A5}"/>
              </a:ext>
            </a:extLst>
          </p:cNvPr>
          <p:cNvSpPr txBox="1"/>
          <p:nvPr/>
        </p:nvSpPr>
        <p:spPr>
          <a:xfrm>
            <a:off x="4953000" y="2387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A5B63"/>
                </a:solidFill>
                <a:latin typeface="Aptos" panose="020B0004020202020204" pitchFamily="34" charset="0"/>
              </a:rPr>
              <a:t>Subscriber consent and approved network access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F5B3B7-745D-2E73-A968-E9CCD3CED270}"/>
              </a:ext>
            </a:extLst>
          </p:cNvPr>
          <p:cNvCxnSpPr/>
          <p:nvPr/>
        </p:nvCxnSpPr>
        <p:spPr>
          <a:xfrm flipV="1">
            <a:off x="3860800" y="3454400"/>
            <a:ext cx="736600" cy="101600"/>
          </a:xfrm>
          <a:prstGeom prst="line">
            <a:avLst/>
          </a:prstGeom>
          <a:ln w="254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3D2AA2-1E0F-7594-F8EB-1CD28AE463CE}"/>
              </a:ext>
            </a:extLst>
          </p:cNvPr>
          <p:cNvSpPr txBox="1"/>
          <p:nvPr/>
        </p:nvSpPr>
        <p:spPr>
          <a:xfrm>
            <a:off x="4953000" y="3098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Durable assurance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FAFEA6-B460-6876-C11B-BC3A5AB7783B}"/>
              </a:ext>
            </a:extLst>
          </p:cNvPr>
          <p:cNvSpPr txBox="1"/>
          <p:nvPr/>
        </p:nvSpPr>
        <p:spPr>
          <a:xfrm>
            <a:off x="4953000" y="3530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A5B63"/>
                </a:solidFill>
                <a:latin typeface="Aptos" panose="020B0004020202020204" pitchFamily="34" charset="0"/>
              </a:rPr>
              <a:t>Tenant-isolated audit storage and operations controls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2C705E5-D306-BC0B-07AF-89D2C12C4FA5}"/>
              </a:ext>
            </a:extLst>
          </p:cNvPr>
          <p:cNvCxnSpPr/>
          <p:nvPr/>
        </p:nvCxnSpPr>
        <p:spPr>
          <a:xfrm>
            <a:off x="3860800" y="3556000"/>
            <a:ext cx="736600" cy="1041400"/>
          </a:xfrm>
          <a:prstGeom prst="line">
            <a:avLst/>
          </a:prstGeom>
          <a:ln w="25400">
            <a:solidFill>
              <a:srgbClr val="1258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A6C8413-009F-702F-2BCB-E45C52445A52}"/>
              </a:ext>
            </a:extLst>
          </p:cNvPr>
          <p:cNvSpPr txBox="1"/>
          <p:nvPr/>
        </p:nvSpPr>
        <p:spPr>
          <a:xfrm>
            <a:off x="4953000" y="4241800"/>
            <a:ext cx="279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D222D"/>
                </a:solidFill>
                <a:latin typeface="Aptos" panose="020B0004020202020204" pitchFamily="34" charset="0"/>
              </a:rPr>
              <a:t>Certified integration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7D5B6F-DFE6-8B0D-FA8B-B63A483F7C2C}"/>
              </a:ext>
            </a:extLst>
          </p:cNvPr>
          <p:cNvSpPr txBox="1"/>
          <p:nvPr/>
        </p:nvSpPr>
        <p:spPr>
          <a:xfrm>
            <a:off x="4953000" y="4673600"/>
            <a:ext cx="546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4A5B63"/>
                </a:solidFill>
                <a:latin typeface="Aptos" panose="020B0004020202020204" pitchFamily="34" charset="0"/>
              </a:rPr>
              <a:t>Validated OT interfaces for pumps, valves, and gateways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CDF738-7B44-C3E9-B731-1945E2D344B1}"/>
              </a:ext>
            </a:extLst>
          </p:cNvPr>
          <p:cNvSpPr txBox="1"/>
          <p:nvPr/>
        </p:nvSpPr>
        <p:spPr>
          <a:xfrm>
            <a:off x="4953000" y="5486400"/>
            <a:ext cx="152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A05D30"/>
                </a:solidFill>
                <a:latin typeface="Aptos" panose="020B0004020202020204" pitchFamily="34" charset="0"/>
              </a:rPr>
              <a:t>Potential sectors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72E77B-F698-2B18-8925-A58DAE2D76D0}"/>
              </a:ext>
            </a:extLst>
          </p:cNvPr>
          <p:cNvSpPr txBox="1"/>
          <p:nvPr/>
        </p:nvSpPr>
        <p:spPr>
          <a:xfrm>
            <a:off x="6604000" y="5435600"/>
            <a:ext cx="419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D222D"/>
                </a:solidFill>
                <a:latin typeface="Aptos" panose="020B0004020202020204" pitchFamily="34" charset="0"/>
              </a:rPr>
              <a:t>Energy   Utilities   Ports   Mines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CA1B5E3-AAAB-9C77-A327-0468AA6195F0}"/>
              </a:ext>
            </a:extLst>
          </p:cNvPr>
          <p:cNvCxnSpPr/>
          <p:nvPr/>
        </p:nvCxnSpPr>
        <p:spPr>
          <a:xfrm>
            <a:off x="812800" y="6451600"/>
            <a:ext cx="10566400" cy="0"/>
          </a:xfrm>
          <a:prstGeom prst="line">
            <a:avLst/>
          </a:prstGeom>
          <a:ln w="10160">
            <a:solidFill>
              <a:srgbClr val="CDC9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2C9F76D-E14A-56A2-6863-BCA7B0A8110E}"/>
              </a:ext>
            </a:extLst>
          </p:cNvPr>
          <p:cNvSpPr txBox="1"/>
          <p:nvPr/>
        </p:nvSpPr>
        <p:spPr>
          <a:xfrm>
            <a:off x="812800" y="6553200"/>
            <a:ext cx="105664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 sz="800">
                <a:solidFill>
                  <a:srgbClr val="4A5B63"/>
                </a:solidFill>
                <a:latin typeface="Aptos" panose="020B0004020202020204" pitchFamily="34" charset="0"/>
              </a:rPr>
              <a:t>HISN-Oil | MENA Ignite Hackathon 2026</a:t>
            </a:r>
            <a:endParaRPr lang="en-US" sz="800">
              <a:solidFill>
                <a:srgbClr val="4A5B6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433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098C4B-4D40-6AD2-3C56-E5C50E0483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222D"/>
          </a:solidFill>
          <a:ln w="12700">
            <a:solidFill>
              <a:srgbClr val="0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F2DD4-5BB2-022E-3591-5EE7D04DD934}"/>
              </a:ext>
            </a:extLst>
          </p:cNvPr>
          <p:cNvSpPr txBox="1"/>
          <p:nvPr/>
        </p:nvSpPr>
        <p:spPr>
          <a:xfrm>
            <a:off x="812800" y="736600"/>
            <a:ext cx="6604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ptos" panose="020B0004020202020204" pitchFamily="34" charset="0"/>
              </a:rPr>
              <a:t>Pilot partner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9CCDE2-D0CC-27D9-CE36-C94FBE2D6A64}"/>
              </a:ext>
            </a:extLst>
          </p:cNvPr>
          <p:cNvSpPr txBox="1"/>
          <p:nvPr/>
        </p:nvSpPr>
        <p:spPr>
          <a:xfrm>
            <a:off x="812800" y="1727200"/>
            <a:ext cx="6350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>
                <a:solidFill>
                  <a:srgbClr val="DCEAE6"/>
                </a:solidFill>
                <a:latin typeface="Aptos" panose="020B0004020202020204" pitchFamily="34" charset="0"/>
              </a:rPr>
              <a:t>Validate network proof on one real industrial command workflow.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30235-FA83-97FD-3335-6465926B4B6C}"/>
              </a:ext>
            </a:extLst>
          </p:cNvPr>
          <p:cNvSpPr txBox="1"/>
          <p:nvPr/>
        </p:nvSpPr>
        <p:spPr>
          <a:xfrm>
            <a:off x="812800" y="3149600"/>
            <a:ext cx="596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ptos" panose="020B0004020202020204" pitchFamily="34" charset="0"/>
              </a:rPr>
              <a:t>Seeking an industrial operator or telecom partner for a one-site validation.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AC1F31-919D-F280-F798-FC39B808CBFD}"/>
              </a:ext>
            </a:extLst>
          </p:cNvPr>
          <p:cNvSpPr txBox="1"/>
          <p:nvPr/>
        </p:nvSpPr>
        <p:spPr>
          <a:xfrm>
            <a:off x="812800" y="44958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DCEAE6"/>
                </a:solidFill>
                <a:latin typeface="Aptos" panose="020B0004020202020204" pitchFamily="34" charset="0"/>
              </a:rPr>
              <a:t>LIVE DEMO</a:t>
            </a:r>
          </a:p>
        </p:txBody>
      </p:sp>
      <p:sp>
        <p:nvSpPr>
          <p:cNvPr id="7" name="TextBox 6">
            <a:hlinkClick r:id="rId3"/>
            <a:extLst>
              <a:ext uri="{FF2B5EF4-FFF2-40B4-BE49-F238E27FC236}">
                <a16:creationId xmlns:a16="http://schemas.microsoft.com/office/drawing/2014/main" id="{44F2C6A1-5362-B9B2-53A7-0C3CC3F67B1B}"/>
              </a:ext>
            </a:extLst>
          </p:cNvPr>
          <p:cNvSpPr txBox="1"/>
          <p:nvPr/>
        </p:nvSpPr>
        <p:spPr>
          <a:xfrm>
            <a:off x="812800" y="4800600"/>
            <a:ext cx="571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Consolas" panose="020B0609020204030204" pitchFamily="49" charset="0"/>
              </a:rPr>
              <a:t>hisn-ot-prototype.vercel.app/#judge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643FEF-DB99-8A15-4D93-9A187D752C3C}"/>
              </a:ext>
            </a:extLst>
          </p:cNvPr>
          <p:cNvSpPr txBox="1"/>
          <p:nvPr/>
        </p:nvSpPr>
        <p:spPr>
          <a:xfrm>
            <a:off x="812800" y="5461000"/>
            <a:ext cx="177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DCEAE6"/>
                </a:solidFill>
                <a:latin typeface="Aptos" panose="020B0004020202020204" pitchFamily="34" charset="0"/>
              </a:rPr>
              <a:t>SOURCE</a:t>
            </a:r>
          </a:p>
        </p:txBody>
      </p:sp>
      <p:sp>
        <p:nvSpPr>
          <p:cNvPr id="9" name="TextBox 8">
            <a:hlinkClick r:id="rId4"/>
            <a:extLst>
              <a:ext uri="{FF2B5EF4-FFF2-40B4-BE49-F238E27FC236}">
                <a16:creationId xmlns:a16="http://schemas.microsoft.com/office/drawing/2014/main" id="{6E536C80-5E70-7428-E98C-6585AA63521E}"/>
              </a:ext>
            </a:extLst>
          </p:cNvPr>
          <p:cNvSpPr txBox="1"/>
          <p:nvPr/>
        </p:nvSpPr>
        <p:spPr>
          <a:xfrm>
            <a:off x="812800" y="5765800"/>
            <a:ext cx="571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FFFFFF"/>
                </a:solidFill>
                <a:latin typeface="Consolas" panose="020B0609020204030204" pitchFamily="49" charset="0"/>
              </a:rPr>
              <a:t>github.com/Mutasem-mk4/hisn-ot-prototype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D91454-6554-1FDB-2EF4-5CD8F808C7CF}"/>
              </a:ext>
            </a:extLst>
          </p:cNvPr>
          <p:cNvSpPr/>
          <p:nvPr/>
        </p:nvSpPr>
        <p:spPr>
          <a:xfrm>
            <a:off x="7924800" y="1270000"/>
            <a:ext cx="3175000" cy="317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711122-D782-0DD8-7287-4E68FEA293A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98600"/>
            <a:ext cx="2717800" cy="2717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C473A27-6BA5-FF93-4846-3C1C64A79189}"/>
              </a:ext>
            </a:extLst>
          </p:cNvPr>
          <p:cNvSpPr txBox="1"/>
          <p:nvPr/>
        </p:nvSpPr>
        <p:spPr>
          <a:xfrm>
            <a:off x="7924800" y="46990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Aptos" panose="020B0004020202020204" pitchFamily="34" charset="0"/>
              </a:rPr>
              <a:t>Scan to run the verified prototype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C35F0E-38DE-A2C9-A08B-5B43FE0E596D}"/>
              </a:ext>
            </a:extLst>
          </p:cNvPr>
          <p:cNvSpPr txBox="1"/>
          <p:nvPr/>
        </p:nvSpPr>
        <p:spPr>
          <a:xfrm>
            <a:off x="812800" y="6477000"/>
            <a:ext cx="10287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>
                <a:solidFill>
                  <a:srgbClr val="DCEAE6"/>
                </a:solidFill>
                <a:latin typeface="Aptos" panose="020B0004020202020204" pitchFamily="34" charset="0"/>
              </a:rPr>
              <a:t>Nokia Sandbox   /   Live LangGraph   /   Deterministic authorization</a:t>
            </a:r>
          </a:p>
        </p:txBody>
      </p:sp>
    </p:spTree>
    <p:extLst>
      <p:ext uri="{BB962C8B-B14F-4D97-AF65-F5344CB8AC3E}">
        <p14:creationId xmlns:p14="http://schemas.microsoft.com/office/powerpoint/2010/main" val="1554413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929</Words>
  <Application>Microsoft Office PowerPoint</Application>
  <PresentationFormat>Custom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2</vt:lpstr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معتصم فارس مصطفى خرما</dc:creator>
  <cp:lastModifiedBy>معتصم فارس مصطفى خرما</cp:lastModifiedBy>
  <cp:revision>1</cp:revision>
  <dcterms:created xsi:type="dcterms:W3CDTF">2026-09-12T03:10:43Z</dcterms:created>
  <dcterms:modified xsi:type="dcterms:W3CDTF">2026-09-12T03:10:43Z</dcterms:modified>
</cp:coreProperties>
</file>